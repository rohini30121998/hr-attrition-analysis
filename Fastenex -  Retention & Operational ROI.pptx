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321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71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91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1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70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25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09278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5142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52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537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48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62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48919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7392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487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9533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4087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96478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6237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02177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3817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66567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6070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6296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402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469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695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8A8CE-6DD2-702F-6535-ACF9B3E6C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E705C-5BD1-56D5-4CEC-39726C5BA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40AA0-5E35-E5A2-518E-5DE7CE9C7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C0C45-46FD-DEE4-3848-3BB743F22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1A654-9758-691F-4F3C-B570BFD28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84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E2536989-50A2-41DA-A07F-4CFD045E751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B9F6F207-3FB0-48C3-B05A-68C347C413A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91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EDB9-7A5D-4E22-FC4C-D2C8372F02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000" dirty="0" err="1"/>
              <a:t>Fastenex</a:t>
            </a:r>
            <a:r>
              <a:rPr lang="en-US" sz="5000" dirty="0"/>
              <a:t> -  Retention &amp; Operational ROI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3B60D-22BE-9A69-896F-96636A2BD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38323"/>
          </a:xfrm>
        </p:spPr>
        <p:txBody>
          <a:bodyPr/>
          <a:lstStyle/>
          <a:p>
            <a:r>
              <a:rPr lang="en-US" sz="1800" dirty="0">
                <a:solidFill>
                  <a:schemeClr val="accent3"/>
                </a:solidFill>
              </a:rPr>
              <a:t>A Unified Command Center for Operational Excellence and Strategic Financial ROI</a:t>
            </a:r>
            <a:endParaRPr lang="en-US" dirty="0">
              <a:solidFill>
                <a:schemeClr val="accent3"/>
              </a:solidFill>
            </a:endParaRPr>
          </a:p>
          <a:p>
            <a:r>
              <a:rPr lang="en-US" dirty="0"/>
              <a:t>                               </a:t>
            </a:r>
          </a:p>
          <a:p>
            <a:r>
              <a:rPr lang="en-US" dirty="0"/>
              <a:t>                                                                                             By Rohini</a:t>
            </a:r>
          </a:p>
        </p:txBody>
      </p:sp>
    </p:spTree>
    <p:extLst>
      <p:ext uri="{BB962C8B-B14F-4D97-AF65-F5344CB8AC3E}">
        <p14:creationId xmlns:p14="http://schemas.microsoft.com/office/powerpoint/2010/main" val="1291352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6146BF-9413-3A55-595B-291159553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103" y="766916"/>
            <a:ext cx="10638503" cy="83574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accent3"/>
                </a:solidFill>
              </a:rPr>
              <a:t>Problem statement – HR attrition analysis</a:t>
            </a:r>
            <a:endParaRPr lang="en-US" sz="4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F5F3DCE-CDF2-1A92-1D40-2B9F71272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103" y="1750142"/>
            <a:ext cx="11130116" cy="4680154"/>
          </a:xfrm>
        </p:spPr>
        <p:txBody>
          <a:bodyPr/>
          <a:lstStyle/>
          <a:p>
            <a:pPr marL="342900" indent="-342900" algn="l"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800" dirty="0"/>
              <a:t>Frequent employee exits which increases recruitment and training costs, loss of experienced talents and disruption in ongoing operations.</a:t>
            </a:r>
          </a:p>
          <a:p>
            <a:pPr marL="342900" indent="-342900" algn="l"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800" dirty="0"/>
              <a:t>HR data (stored in multiple systems) masking critical workforce trends ---- unable to effectively monitor attrition pattern.</a:t>
            </a:r>
          </a:p>
          <a:p>
            <a:pPr marL="342900" indent="-342900" algn="l"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800" dirty="0"/>
              <a:t>Lack of visibility which tends to reactive, rather than proactive in HR decisions.</a:t>
            </a:r>
          </a:p>
          <a:p>
            <a:pPr marL="342900" indent="-342900" algn="l"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800" dirty="0"/>
              <a:t>Lack of employee segmentation and trend analysis-----limits the ability to identify high risk groups and implemented retention strategies.</a:t>
            </a:r>
          </a:p>
          <a:p>
            <a:pPr marL="342900" indent="-342900" algn="l"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800" dirty="0"/>
              <a:t>Restricts the ability to enable deeper workforce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17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6B65D-4D03-87DF-6309-4FAC16F2A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794" y="766917"/>
            <a:ext cx="10304206" cy="83328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accent3"/>
                </a:solidFill>
              </a:rPr>
              <a:t>Solution &amp; Dataset details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CC6E2-A995-3BAB-039F-F3C28F45C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794" y="1600201"/>
            <a:ext cx="11582400" cy="5095567"/>
          </a:xfrm>
        </p:spPr>
        <p:txBody>
          <a:bodyPr>
            <a:normAutofit/>
          </a:bodyPr>
          <a:lstStyle/>
          <a:p>
            <a:pPr algn="l"/>
            <a:r>
              <a:rPr lang="en-US" sz="1900" dirty="0"/>
              <a:t>1.Finding the factors behind the attrition pattern by </a:t>
            </a:r>
            <a:r>
              <a:rPr lang="en-US" sz="1900" b="1" dirty="0"/>
              <a:t>employee segmentation and trend analysis</a:t>
            </a:r>
            <a:r>
              <a:rPr lang="en-US" sz="1900" dirty="0"/>
              <a:t>, storing all the HR data in one place.</a:t>
            </a:r>
          </a:p>
          <a:p>
            <a:pPr algn="l"/>
            <a:r>
              <a:rPr lang="en-US" sz="1900" dirty="0"/>
              <a:t>2. Implementing </a:t>
            </a:r>
            <a:r>
              <a:rPr lang="en-US" sz="1900" b="1" dirty="0"/>
              <a:t>retention strategies</a:t>
            </a:r>
            <a:r>
              <a:rPr lang="en-US" sz="1900" dirty="0"/>
              <a:t> with privileges.</a:t>
            </a:r>
          </a:p>
          <a:p>
            <a:pPr algn="l"/>
            <a:r>
              <a:rPr lang="en-US" sz="1900" dirty="0"/>
              <a:t>3. During night shift, workers will receive a </a:t>
            </a:r>
            <a:r>
              <a:rPr lang="en-US" sz="1900" b="1" dirty="0"/>
              <a:t>5% premium allowance</a:t>
            </a:r>
            <a:r>
              <a:rPr lang="en-US" sz="1900" dirty="0"/>
              <a:t> calculated on weekly rate, applicable only for the week(s) worked on that shift. </a:t>
            </a:r>
          </a:p>
          <a:p>
            <a:pPr marL="342900" indent="-342900" algn="l"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900" dirty="0"/>
              <a:t>Dataset collected using </a:t>
            </a:r>
            <a:r>
              <a:rPr lang="en-US" sz="1900" dirty="0" err="1"/>
              <a:t>claude</a:t>
            </a:r>
            <a:r>
              <a:rPr lang="en-US" sz="1900" dirty="0"/>
              <a:t> ai</a:t>
            </a:r>
          </a:p>
          <a:p>
            <a:pPr marL="342900" indent="-342900" algn="l"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1900" dirty="0"/>
              <a:t>Dataset has attributes like department, job role, age group, attrition status, burnout risk, shift type.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2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05D4-E88B-9C61-3D62-641AC1178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44" y="210127"/>
            <a:ext cx="4960617" cy="440980"/>
          </a:xfrm>
        </p:spPr>
        <p:txBody>
          <a:bodyPr>
            <a:noAutofit/>
          </a:bodyPr>
          <a:lstStyle/>
          <a:p>
            <a:r>
              <a:rPr lang="en-US" sz="3500" dirty="0">
                <a:solidFill>
                  <a:schemeClr val="accent3"/>
                </a:solidFill>
              </a:rPr>
              <a:t>Unified Data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4CC79-9113-6640-27CA-A4C8C772ACE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737419"/>
            <a:ext cx="3973066" cy="5432717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The Challenge</a:t>
            </a:r>
            <a:r>
              <a:rPr lang="en-US" dirty="0"/>
              <a:t>: Scattered HR logs and data silos masked critical operational problems.</a:t>
            </a:r>
          </a:p>
          <a:p>
            <a:pPr lvl="0"/>
            <a:r>
              <a:rPr lang="en-US" b="1" dirty="0"/>
              <a:t>Data Consolidation</a:t>
            </a:r>
            <a:r>
              <a:rPr lang="en-US" dirty="0"/>
              <a:t>: Engineered a pipeline to store all historical HR logs and operational records in one centralized place.</a:t>
            </a:r>
          </a:p>
          <a:p>
            <a:pPr lvl="0"/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Pattern Identification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 Built a system to find the exact factors behind attrition through deep employee segmentation and trend analysis.</a:t>
            </a:r>
          </a:p>
          <a:p>
            <a:pPr lvl="0"/>
            <a:r>
              <a:rPr lang="en-US" b="1" dirty="0"/>
              <a:t>Star Schema Engine</a:t>
            </a:r>
            <a:r>
              <a:rPr lang="en-US" dirty="0"/>
              <a:t>: Designed an optimized data model linking dim_employees and dim_operations to the core workforce facts.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88D90A-F9A9-63DB-CC5F-4909F25C7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44" y="3982064"/>
            <a:ext cx="7427561" cy="28759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E5EF71-D80C-F16D-BB2F-A6D8C47B2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44" y="737419"/>
            <a:ext cx="5256431" cy="307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62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ACE18A3-E59E-24FE-02CD-D9C5C49C3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accent3"/>
                </a:solidFill>
              </a:rPr>
              <a:t>Finding the Bottlenecks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7955B3F-4E4B-3881-499C-F812183CDC63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>
            <a:normAutofit/>
          </a:bodyPr>
          <a:lstStyle/>
          <a:p>
            <a:pPr lvl="0"/>
            <a:r>
              <a:rPr lang="en-US" sz="1600" b="1" dirty="0"/>
              <a:t>Severe Fatigue Status</a:t>
            </a:r>
            <a:r>
              <a:rPr lang="en-US" sz="1600" dirty="0"/>
              <a:t>: Top KPI cards instantly isolate </a:t>
            </a:r>
            <a:r>
              <a:rPr lang="en-US" sz="1600" b="1" dirty="0"/>
              <a:t>111 employees</a:t>
            </a:r>
            <a:r>
              <a:rPr lang="en-US" sz="1600" dirty="0"/>
              <a:t> operating under heavy burnout risk, leading to </a:t>
            </a:r>
            <a:r>
              <a:rPr lang="en-US" sz="1600" b="1" dirty="0"/>
              <a:t>5,000 lost absent days</a:t>
            </a:r>
            <a:r>
              <a:rPr lang="en-US" sz="1600" dirty="0"/>
              <a:t>.</a:t>
            </a:r>
          </a:p>
          <a:p>
            <a:pPr lvl="0"/>
            <a:r>
              <a:rPr lang="en-US" sz="1600" b="1" dirty="0"/>
              <a:t>Cause &amp; Effect</a:t>
            </a:r>
            <a:r>
              <a:rPr lang="en-US" sz="1600" dirty="0"/>
              <a:t>: Directly modeled burnout scores against factory errors, proving that the </a:t>
            </a:r>
            <a:r>
              <a:rPr lang="en-US" sz="1600" b="1" dirty="0"/>
              <a:t>Heat Treatment</a:t>
            </a:r>
            <a:r>
              <a:rPr lang="en-US" sz="1600" dirty="0"/>
              <a:t> department suffered the highest risk (</a:t>
            </a:r>
            <a:r>
              <a:rPr lang="en-US" sz="1600" b="1" dirty="0"/>
              <a:t>44 workers</a:t>
            </a:r>
            <a:r>
              <a:rPr lang="en-US" sz="1600" dirty="0"/>
              <a:t> driving a peak </a:t>
            </a:r>
            <a:r>
              <a:rPr lang="en-US" sz="1600" b="1" dirty="0"/>
              <a:t>11.22% defect rate</a:t>
            </a:r>
            <a:r>
              <a:rPr lang="en-US" sz="1600" dirty="0"/>
              <a:t>).</a:t>
            </a:r>
          </a:p>
          <a:p>
            <a:pPr lvl="0"/>
            <a:r>
              <a:rPr lang="en-US" sz="1600" b="1" dirty="0"/>
              <a:t>Downtime Visibility</a:t>
            </a:r>
            <a:r>
              <a:rPr lang="en-US" sz="1600" dirty="0"/>
              <a:t>: Tracks manufacturing delay minutes across shifts to let shop-floor supervisors locate production line friction immediately.</a:t>
            </a:r>
          </a:p>
          <a:p>
            <a:endParaRPr lang="en-US" sz="1000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871D912-902F-8277-79FF-96FC9DC4085E}"/>
              </a:ext>
            </a:extLst>
          </p:cNvPr>
          <p:cNvPicPr>
            <a:picLocks noGrp="1" noChangeAspect="1"/>
          </p:cNvPicPr>
          <p:nvPr>
            <p:ph sz="quarter" idx="19"/>
          </p:nvPr>
        </p:nvPicPr>
        <p:blipFill>
          <a:blip r:embed="rId2"/>
          <a:stretch>
            <a:fillRect/>
          </a:stretch>
        </p:blipFill>
        <p:spPr>
          <a:xfrm>
            <a:off x="5595169" y="2923042"/>
            <a:ext cx="6440128" cy="366743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60299A9-9083-9487-D547-F82B8BB76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002" y="1671485"/>
            <a:ext cx="5782572" cy="10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32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8C7F9-C3E8-980E-EA6E-F6885DCE5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The </a:t>
            </a:r>
            <a:r>
              <a:rPr lang="en-US" dirty="0" err="1">
                <a:solidFill>
                  <a:schemeClr val="accent3"/>
                </a:solidFill>
              </a:rPr>
              <a:t>Fastenex</a:t>
            </a:r>
            <a:r>
              <a:rPr lang="en-US" dirty="0">
                <a:solidFill>
                  <a:schemeClr val="accent3"/>
                </a:solidFill>
              </a:rPr>
              <a:t> employee retention framework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C38B4-00C6-7E85-4376-4C8160B337FE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>
            <a:normAutofit/>
          </a:bodyPr>
          <a:lstStyle/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Financial Stability:</a:t>
            </a:r>
            <a:r>
              <a:rPr lang="en-US" sz="1600" dirty="0"/>
              <a:t> Streamlined bank loan approval pathways.</a:t>
            </a:r>
          </a:p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 </a:t>
            </a:r>
            <a:r>
              <a:rPr lang="en-US" sz="1600" b="1" dirty="0"/>
              <a:t>Culture Booster:</a:t>
            </a:r>
            <a:r>
              <a:rPr lang="en-US" sz="1600" dirty="0"/>
              <a:t> Birthday gift vouchers distributed to all staff.</a:t>
            </a:r>
          </a:p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 </a:t>
            </a:r>
            <a:r>
              <a:rPr lang="en-US" sz="1600" b="1" dirty="0"/>
              <a:t>Family Care:</a:t>
            </a:r>
            <a:r>
              <a:rPr lang="en-US" sz="1600" dirty="0"/>
              <a:t> Direct company contributions to children's education fees</a:t>
            </a:r>
          </a:p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Health Security:</a:t>
            </a:r>
            <a:r>
              <a:rPr lang="en-US" sz="1600" dirty="0"/>
              <a:t> Medical claim facilities up to 2 Lakhs extended to family members</a:t>
            </a:r>
          </a:p>
          <a:p>
            <a:pPr marL="514350" lvl="1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Tenure Growth:</a:t>
            </a:r>
            <a:r>
              <a:rPr lang="en-US" sz="1600" dirty="0"/>
              <a:t> Structured career pathways for trainees hitting 2 years, paired with a company-funded yearly tour.</a:t>
            </a:r>
            <a:endParaRPr lang="en-US" dirty="0"/>
          </a:p>
          <a:p>
            <a:pPr lvl="1"/>
            <a:r>
              <a:rPr lang="en-US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7345E0-CA8F-8EB3-0712-B10E6521E643}"/>
              </a:ext>
            </a:extLst>
          </p:cNvPr>
          <p:cNvSpPr txBox="1"/>
          <p:nvPr/>
        </p:nvSpPr>
        <p:spPr>
          <a:xfrm>
            <a:off x="465164" y="1084551"/>
            <a:ext cx="6174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The </a:t>
            </a:r>
            <a:r>
              <a:rPr lang="en-US" sz="36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Fastenex</a:t>
            </a:r>
            <a:r>
              <a:rPr lang="en-US" sz="3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Employee Retention Framework</a:t>
            </a:r>
          </a:p>
        </p:txBody>
      </p:sp>
    </p:spTree>
    <p:extLst>
      <p:ext uri="{BB962C8B-B14F-4D97-AF65-F5344CB8AC3E}">
        <p14:creationId xmlns:p14="http://schemas.microsoft.com/office/powerpoint/2010/main" val="124731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B31A1F1-317F-B306-E834-CF001427E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0529" y="873841"/>
            <a:ext cx="6173592" cy="5636798"/>
          </a:xfrm>
        </p:spPr>
        <p:txBody>
          <a:bodyPr>
            <a:normAutofit/>
          </a:bodyPr>
          <a:lstStyle/>
          <a:p>
            <a:b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EA9BA-E261-0495-EFA7-91304F29FE9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93290" y="2379406"/>
            <a:ext cx="5555226" cy="4091222"/>
          </a:xfrm>
        </p:spPr>
        <p:txBody>
          <a:bodyPr>
            <a:normAutofit/>
          </a:bodyPr>
          <a:lstStyle/>
          <a:p>
            <a:pPr lvl="0"/>
            <a:r>
              <a:rPr lang="en-US" sz="15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Dynamic Shift Rotation</a:t>
            </a:r>
            <a:r>
              <a:rPr lang="en-US" sz="1500" dirty="0"/>
              <a:t>: Recommends that employees experience all operational shifts, balanced intelligently by their </a:t>
            </a:r>
            <a:r>
              <a:rPr lang="en-US" sz="1500" b="1" dirty="0"/>
              <a:t>Age Group</a:t>
            </a:r>
            <a:r>
              <a:rPr lang="en-US" sz="1500" dirty="0"/>
              <a:t> and </a:t>
            </a:r>
            <a:r>
              <a:rPr lang="en-US" sz="1500" b="1" dirty="0"/>
              <a:t>Gender</a:t>
            </a:r>
            <a:r>
              <a:rPr lang="en-US" sz="1500" dirty="0"/>
              <a:t> profile.</a:t>
            </a:r>
          </a:p>
          <a:p>
            <a:pPr lvl="0"/>
            <a:r>
              <a:rPr lang="en-US" sz="15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Weekly Premium Allowance</a:t>
            </a:r>
            <a:r>
              <a:rPr lang="en-US" sz="1500" dirty="0"/>
              <a:t>: Workers on the night shift receive a </a:t>
            </a:r>
            <a:r>
              <a:rPr lang="en-US" sz="1500" b="1" dirty="0"/>
              <a:t>5% premium allowance calculated on their weekly rate</a:t>
            </a:r>
            <a:r>
              <a:rPr lang="en-US" sz="1500" dirty="0"/>
              <a:t>.</a:t>
            </a:r>
          </a:p>
          <a:p>
            <a:pPr lvl="0"/>
            <a:r>
              <a:rPr lang="en-US" sz="15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Targeted Application</a:t>
            </a:r>
            <a:r>
              <a:rPr lang="en-US" sz="1500" dirty="0"/>
              <a:t>: The extra payout applies strictly to the week(s) actively worked on that shift.</a:t>
            </a:r>
          </a:p>
          <a:p>
            <a:pPr lvl="0"/>
            <a:r>
              <a:rPr lang="en-US" sz="15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Financial Stability</a:t>
            </a:r>
            <a:r>
              <a:rPr lang="en-US" sz="1500" dirty="0"/>
              <a:t>: Standard monthly salaries remain completely untouched during standard daytime operational weeks.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E42AE0-B853-3139-509D-55941CBB30BD}"/>
              </a:ext>
            </a:extLst>
          </p:cNvPr>
          <p:cNvSpPr txBox="1"/>
          <p:nvPr/>
        </p:nvSpPr>
        <p:spPr>
          <a:xfrm>
            <a:off x="245807" y="162695"/>
            <a:ext cx="9031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Balanced Operations &amp; Night Shift Premiums</a:t>
            </a:r>
            <a:endParaRPr lang="en-US" sz="3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236540-345D-BABF-75C3-ECC957717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481" y="978812"/>
            <a:ext cx="2665235" cy="544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80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5900D2-4A37-D167-B941-82FDA687A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076632"/>
          </a:xfrm>
        </p:spPr>
        <p:txBody>
          <a:bodyPr/>
          <a:lstStyle/>
          <a:p>
            <a:r>
              <a:rPr lang="en-US" sz="3600" dirty="0">
                <a:solidFill>
                  <a:schemeClr val="accent3"/>
                </a:solidFill>
              </a:rPr>
              <a:t>Strategic ROI Evaluation &amp; Automatic Budget Splitting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19CA5F-CD8C-2643-4A7C-CF31DCC485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1838632"/>
            <a:ext cx="5479616" cy="4124806"/>
          </a:xfrm>
        </p:spPr>
        <p:txBody>
          <a:bodyPr>
            <a:normAutofit/>
          </a:bodyPr>
          <a:lstStyle/>
          <a:p>
            <a:pPr lvl="0"/>
            <a:r>
              <a:rPr lang="en-US" sz="1500" b="1" dirty="0"/>
              <a:t>Executive Simulator</a:t>
            </a:r>
            <a:r>
              <a:rPr lang="en-US" sz="1500" dirty="0"/>
              <a:t>: Uses a custom DAX What-If parameter slider to simulate variable financial rescue metrics against the fixed </a:t>
            </a:r>
            <a:r>
              <a:rPr lang="en-US" sz="1500" b="1" dirty="0"/>
              <a:t>$2.13M baseline Attrition Cost</a:t>
            </a:r>
            <a:r>
              <a:rPr lang="en-US" sz="1500" dirty="0"/>
              <a:t>.</a:t>
            </a:r>
          </a:p>
          <a:p>
            <a:pPr lvl="0"/>
            <a:r>
              <a:rPr lang="en-US" sz="1500" b="1" dirty="0"/>
              <a:t>Flawless Axis Scaling</a:t>
            </a:r>
            <a:r>
              <a:rPr lang="en-US" sz="1500" dirty="0"/>
              <a:t>: Integrated an advanced ABS() boundary logic measure to establish a rock-solid </a:t>
            </a:r>
            <a:r>
              <a:rPr lang="en-US" sz="1500" b="1" dirty="0"/>
              <a:t>$1.44M Net Strategic ROI</a:t>
            </a:r>
            <a:r>
              <a:rPr lang="en-US" sz="1500" dirty="0"/>
              <a:t>.</a:t>
            </a:r>
          </a:p>
          <a:p>
            <a:pPr lvl="0"/>
            <a:r>
              <a:rPr lang="en-US" sz="1500" b="1" dirty="0"/>
              <a:t>Dynamic Allocation</a:t>
            </a:r>
            <a:r>
              <a:rPr lang="en-US" sz="1500" dirty="0"/>
              <a:t>: Deployed a filter-override measure (Dynamic Slice Value) to automatically split the rescued capital into targeted corporate actions:</a:t>
            </a:r>
          </a:p>
          <a:p>
            <a:pPr lvl="1"/>
            <a:r>
              <a:rPr lang="en-US" sz="1500" b="1" dirty="0"/>
              <a:t>15%</a:t>
            </a:r>
            <a:r>
              <a:rPr lang="en-US" sz="1500" dirty="0"/>
              <a:t> to Child Education Grants (</a:t>
            </a:r>
            <a:r>
              <a:rPr lang="en-US" sz="1500" b="1" dirty="0"/>
              <a:t>$216K</a:t>
            </a:r>
            <a:r>
              <a:rPr lang="en-US" sz="1500" dirty="0"/>
              <a:t>)</a:t>
            </a:r>
          </a:p>
          <a:p>
            <a:pPr lvl="1"/>
            <a:r>
              <a:rPr lang="en-US" sz="1500" b="1" dirty="0"/>
              <a:t>25%</a:t>
            </a:r>
            <a:r>
              <a:rPr lang="en-US" sz="1500" dirty="0"/>
              <a:t> to Rotational Shift Restructures (</a:t>
            </a:r>
            <a:r>
              <a:rPr lang="en-US" sz="1500" b="1" dirty="0"/>
              <a:t>$360K</a:t>
            </a:r>
            <a:r>
              <a:rPr lang="en-US" sz="1500" dirty="0"/>
              <a:t>)</a:t>
            </a:r>
          </a:p>
          <a:p>
            <a:pPr lvl="1"/>
            <a:r>
              <a:rPr lang="en-US" sz="1500" b="1" dirty="0"/>
              <a:t>60%</a:t>
            </a:r>
            <a:r>
              <a:rPr lang="en-US" sz="1500" dirty="0"/>
              <a:t> to Family Medical Coverage (</a:t>
            </a:r>
            <a:r>
              <a:rPr lang="en-US" sz="1500" b="1" dirty="0"/>
              <a:t>$864K</a:t>
            </a:r>
            <a:r>
              <a:rPr lang="en-US" sz="1500" dirty="0"/>
              <a:t>)</a:t>
            </a:r>
          </a:p>
          <a:p>
            <a:pPr lvl="0"/>
            <a:endParaRPr lang="en-US" sz="15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3CC399-9B8F-31C4-7A58-8215417D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381" y="88912"/>
            <a:ext cx="4588896" cy="65281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9BAA20-9A0E-45B2-EA27-CDA7F4E15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857" y="5679769"/>
            <a:ext cx="1638442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60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21D4-E6DE-1BDE-C120-D0FAEB5CE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500" dirty="0">
                <a:solidFill>
                  <a:schemeClr val="accent3"/>
                </a:solidFill>
              </a:rPr>
              <a:t>Bridging the Gap: Human Well-being to Corporate ROI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D6E9D-8390-2289-B3F7-368529E4D97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150" y="3045542"/>
            <a:ext cx="11171699" cy="3050458"/>
          </a:xfrm>
        </p:spPr>
        <p:txBody>
          <a:bodyPr/>
          <a:lstStyle/>
          <a:p>
            <a:pPr lvl="1"/>
            <a:r>
              <a:rPr lang="en-US" b="1" dirty="0"/>
              <a:t>End-to-End Success</a:t>
            </a:r>
            <a:r>
              <a:rPr lang="en-US" dirty="0"/>
              <a:t>: Proves that programmatic data cleaning, star schema architecture, and single-screen analytics can solve severe operational problems.</a:t>
            </a:r>
          </a:p>
          <a:p>
            <a:pPr lvl="1"/>
            <a:r>
              <a:rPr lang="en-US" b="1" dirty="0"/>
              <a:t>Data-Backed Strategy</a:t>
            </a:r>
            <a:r>
              <a:rPr lang="en-US" dirty="0"/>
              <a:t>: Replaces intuition with interactive calculations, demonstrating that employee well-being is a massive corporate profit driver.</a:t>
            </a:r>
          </a:p>
          <a:p>
            <a:pPr lvl="1"/>
            <a:r>
              <a:rPr lang="en-US" b="1" dirty="0"/>
              <a:t>Enterprise Scalability</a:t>
            </a:r>
            <a:r>
              <a:rPr lang="en-US" dirty="0"/>
              <a:t>: The unified model is fully scalable, allowing the enterprise to inject new operational datasets seamlessly.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sz="2000" i="1" dirty="0">
                <a:solidFill>
                  <a:schemeClr val="accent3"/>
                </a:solidFill>
              </a:rPr>
              <a:t>Thank you for your time. I am open to strategic questions.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50917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1013</TotalTime>
  <Words>717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Arial Nova Light</vt:lpstr>
      <vt:lpstr>Courier New</vt:lpstr>
      <vt:lpstr>Wingdings 3</vt:lpstr>
      <vt:lpstr>Dark Gradient</vt:lpstr>
      <vt:lpstr>Fastenex -  Retention &amp; Operational ROI</vt:lpstr>
      <vt:lpstr>Problem statement – HR attrition analysis</vt:lpstr>
      <vt:lpstr>Solution &amp; Dataset details</vt:lpstr>
      <vt:lpstr>Unified Data Engine</vt:lpstr>
      <vt:lpstr>Finding the Bottlenecks </vt:lpstr>
      <vt:lpstr>The Fastenex employee retention framework</vt:lpstr>
      <vt:lpstr> </vt:lpstr>
      <vt:lpstr>Strategic ROI Evaluation &amp; Automatic Budget Splitting</vt:lpstr>
      <vt:lpstr>Bridging the Gap: Human Well-being to Corporate ROI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rohini pearls</dc:creator>
  <cp:lastModifiedBy>rohini pearls</cp:lastModifiedBy>
  <cp:revision>13</cp:revision>
  <dcterms:created xsi:type="dcterms:W3CDTF">2026-10-12T08:41:15Z</dcterms:created>
  <dcterms:modified xsi:type="dcterms:W3CDTF">2026-10-14T11:38:49Z</dcterms:modified>
</cp:coreProperties>
</file>